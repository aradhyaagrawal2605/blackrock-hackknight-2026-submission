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5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700" y="110490"/>
            <a:ext cx="5339001" cy="8008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12589"/>
            <a:ext cx="521350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BlackRock HackKnight 2026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93790" y="1211580"/>
            <a:ext cx="512826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Quantitative Portfolio Strategy — Hackathon @ IIT Delhi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1585674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Strategy: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MVO-Optimised Concentrated Portfolio with Event-Driven Corporate Action Reactions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116217" y="1961674"/>
            <a:ext cx="49115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100.0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0456" y="259365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Final Score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3790" y="2881432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Perfect across all metrics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16217" y="3341251"/>
            <a:ext cx="49115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$585,952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0456" y="39732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Net PnL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3790" y="4261009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After fees and costs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116217" y="4720828"/>
            <a:ext cx="49115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3.4633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650456" y="535281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Sharpe Ratio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93790" y="5640586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Annualised performance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16217" y="6100405"/>
            <a:ext cx="49115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10/60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3650456" y="67323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Calls Used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93790" y="7020163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83% budget preserved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3790" y="7322463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 tickers · 5 sectors · 390 ticks · 11 corporate actions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856"/>
            <a:ext cx="805719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Input Data — Alpha Sources for MVO &amp; LLM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02199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Three data sources feed the MVO optimizer and LLM alpha engine at simulation start, providing structural and tactical signals.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8002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fundamentals.json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2126337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Available for all 50 tickers: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2407087"/>
            <a:ext cx="4107418" cy="201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P/E ratio, P/B ratio, EPS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EPS growth YoY (%)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Dividend yield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Debt-to-equity ratio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ROE (Return on Equity)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Beta (market sensitivity)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ESG score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Analyst consensus rating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52-week high/low, market cap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68397" y="1800225"/>
            <a:ext cx="210800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corporate_actions.json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68397" y="2126337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11 events with known types and tickers: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68397" y="2407087"/>
            <a:ext cx="4107418" cy="156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STOCK_SPLIT — D002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EARNINGS_SURPRISE — C002, A001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DIVIDEND_DECLARATION — B003, D007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MANAGEMENT_CHANGE — C005, E004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MA_RUMOUR — E007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REGULATORY_FINE — B008, A009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INDEX_REBALANCE — A005, B001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43003" y="1800225"/>
            <a:ext cx="19104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initial_portfolio.json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743003" y="2126337"/>
            <a:ext cx="4107418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Starting cash: $10,000,000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existing holdings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prior trade history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743003" y="2863096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Constraints (from rules):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743003" y="3143845"/>
            <a:ext cx="4107418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30 holdings (TC004)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30% turnover (TC005)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60 LLM calls (TC008)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 fee: 0.1% + $1 fixed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3790" y="4602837"/>
            <a:ext cx="3728085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How These Inputs Generate Alpha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3790" y="5022890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790" y="5258038"/>
            <a:ext cx="647354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62218"/>
            <a:ext cx="441602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Fundamentals → MVO expected return vector (μ)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3790" y="5649992"/>
            <a:ext cx="64735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EPS growth, ROE, analyst ratings form the prior for stock selection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3063" y="5022890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3063" y="5258038"/>
            <a:ext cx="647354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1" name="Text 19"/>
          <p:cNvSpPr/>
          <p:nvPr/>
        </p:nvSpPr>
        <p:spPr>
          <a:xfrm>
            <a:off x="7363063" y="5362218"/>
            <a:ext cx="401716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Fundamentals → MVO covariance matrix (Σ)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63063" y="5649992"/>
            <a:ext cx="64735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Beta and sector groupings seed cross-sectional risk estimates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3790" y="6050756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790" y="6285905"/>
            <a:ext cx="647354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5" name="Text 23"/>
          <p:cNvSpPr/>
          <p:nvPr/>
        </p:nvSpPr>
        <p:spPr>
          <a:xfrm>
            <a:off x="793790" y="6390084"/>
            <a:ext cx="353020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 schedule → LLM alpha at event time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3790" y="6677858"/>
            <a:ext cx="6473547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When an event fires, LLM reads recent observed prices and event context, then produces a real-time sentiment signal that drives the trading decision (buy / sell / hold)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63063" y="6050756"/>
            <a:ext cx="294799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63063" y="6285905"/>
            <a:ext cx="647354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9" name="Text 27"/>
          <p:cNvSpPr/>
          <p:nvPr/>
        </p:nvSpPr>
        <p:spPr>
          <a:xfrm>
            <a:off x="7363063" y="6390084"/>
            <a:ext cx="305431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Observed prices → EWMA returns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363063" y="6677858"/>
            <a:ext cx="647354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Rolling 50-tick price history feeds into live risk monitoring and LLM context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3790" y="728519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provides structural alpha (which stocks to own); LLM provides tactical alpha (how to react to events in real time).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490"/>
            <a:ext cx="1242202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Strategy Architecture — MVO-Driven Selection &amp; Execution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71255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drives stock selection using fundamentals as expected return priors; LLM provides tactical alpha at corporate action events.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52851"/>
            <a:ext cx="4347567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811" y="2660809"/>
            <a:ext cx="246614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MVO Selection Pipeline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811" y="3002994"/>
            <a:ext cx="4007525" cy="27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expected return vector (μ) from fundamentals.json: EPS growth, analyst rating, ROE, dividend yield as priors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Estimate covariance (Σ) via Ledoit-Wolf shrinkage on historical cross-sectional data (beta, sector correlations)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Solve: max w^T·μ − γ·w^T·Σ·w subject to constraints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Concentrate into top-8 highest-conviction MVO picks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Include CA-affected tickers for event reactivity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3811" y="5877401"/>
            <a:ext cx="40075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Fundamentals are static, backward-looking priors — no future return information enters the MVO inputs.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1852851"/>
            <a:ext cx="4347567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11378" y="2660809"/>
            <a:ext cx="281582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LLM-Powered Event Alpha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311378" y="3002994"/>
            <a:ext cx="40075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 each corporate action event, the LLM generates real-time sentiment signals from observed market data: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11378" y="3793808"/>
            <a:ext cx="4007525" cy="203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EARNINGS_SURPRISE → LLM assesses momentum direction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REGULATORY_FINE → LLM evaluates downside severity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MA_RUMOUR → LLM gauges acquisition probability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INDEX_REBALANCE → LLM estimates demand impact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11378" y="5909191"/>
            <a:ext cx="40075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LLM acts as a real-time alpha overlay on top of the MVO base portfolio — tactical signals from observed data.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1852851"/>
            <a:ext cx="4347567" cy="6804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58945" y="2660809"/>
            <a:ext cx="313372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Three-Phase Execution Model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658945" y="3002994"/>
            <a:ext cx="40075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A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MVO Portfolio Construction (Tick 1): Run optimizer on fundamentals-derived μ and Σ. Deploy $2.91M into top 8 MVO-selected stocks. Retain $7.09M as cash buffer (partial investment allowed by Σw ≤ 1 constraint).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58945" y="4270058"/>
            <a:ext cx="40075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B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Reactive CA Trading (At CA Ticks Only): When a CA fires, the agent queries the LLM with recent observed prices and the event description. LLM returns sentiment signal → small BUY or SELL up to 90%. Strictly reactive.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58945" y="5537121"/>
            <a:ext cx="40075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C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Pre-positioning (Budget Permitting): Reserved slot for future MVO re-optimisation. Currently static.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3790" y="6937058"/>
            <a:ext cx="13042821" cy="607933"/>
          </a:xfrm>
          <a:prstGeom prst="roundRect">
            <a:avLst>
              <a:gd name="adj" fmla="val 4198"/>
            </a:avLst>
          </a:prstGeom>
          <a:solidFill>
            <a:srgbClr val="E2D9C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11" y="7168396"/>
            <a:ext cx="212646" cy="1700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6478" y="7107079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insight: MVO selects the initial portfolio; turnover budget (30%) is preserved for mandatory CA reactions only.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9250"/>
            <a:ext cx="769608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MVO-Selected Portfolio Allocation (Tick 1)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21594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Portfolio deployed $2,910,000 (29.1% of $10M) across 8 tickers. Cash reserve: $7,090,000 (70.9%).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623893"/>
            <a:ext cx="6473547" cy="1509593"/>
          </a:xfrm>
          <a:prstGeom prst="roundRect">
            <a:avLst>
              <a:gd name="adj" fmla="val 1465"/>
            </a:avLst>
          </a:prstGeom>
          <a:solidFill>
            <a:srgbClr val="EEE8DD"/>
          </a:solidFill>
          <a:ln/>
        </p:spPr>
      </p:sp>
      <p:sp>
        <p:nvSpPr>
          <p:cNvPr id="5" name="Shape 3"/>
          <p:cNvSpPr/>
          <p:nvPr/>
        </p:nvSpPr>
        <p:spPr>
          <a:xfrm>
            <a:off x="941189" y="177129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752" y="1892856"/>
            <a:ext cx="198953" cy="1989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189" y="2309217"/>
            <a:ext cx="249126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E007 — $490K (Consumer)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189" y="2596991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high μ (BUY rating, ROE 16.9%) · low risk (β=0.90, D/E 0.37) · high risk-adjusted return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3063" y="1623893"/>
            <a:ext cx="6473547" cy="1509593"/>
          </a:xfrm>
          <a:prstGeom prst="roundRect">
            <a:avLst>
              <a:gd name="adj" fmla="val 1465"/>
            </a:avLst>
          </a:prstGeom>
          <a:solidFill>
            <a:srgbClr val="EEE8DD"/>
          </a:solidFill>
          <a:ln/>
        </p:spPr>
      </p:sp>
      <p:sp>
        <p:nvSpPr>
          <p:cNvPr id="10" name="Shape 7"/>
          <p:cNvSpPr/>
          <p:nvPr/>
        </p:nvSpPr>
        <p:spPr>
          <a:xfrm>
            <a:off x="7510462" y="177129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2025" y="1892856"/>
            <a:ext cx="198953" cy="1989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0462" y="2309217"/>
            <a:ext cx="198131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A001 — $490K (Tech)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10462" y="2596991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highest μ in Tech (EPS growth +20.9%) · P/E 21.8 · strong momentum prior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3790" y="3229213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EEE8DD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189" y="337661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752" y="3498175"/>
            <a:ext cx="198953" cy="1989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189" y="3914537"/>
            <a:ext cx="200072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A005 — $490K (Tech)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41189" y="4202311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strong μ (EPS +9.1%, ROE 27.2%) · high capital efficiency signal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3063" y="3229213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EEE8DD"/>
          </a:solidFill>
          <a:ln/>
        </p:spPr>
      </p:sp>
      <p:sp>
        <p:nvSpPr>
          <p:cNvPr id="20" name="Shape 15"/>
          <p:cNvSpPr/>
          <p:nvPr/>
        </p:nvSpPr>
        <p:spPr>
          <a:xfrm>
            <a:off x="7510462" y="337661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2025" y="3498175"/>
            <a:ext cx="198953" cy="1989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0462" y="3914537"/>
            <a:ext cx="222980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D006 — $490K (Energy)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10462" y="4202311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high μ (BUY, div yield 3.67%) · low vol (β=1.05, D/E 0.55) · defensive anchor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93790" y="4639985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EEE8DD"/>
          </a:solidFill>
          <a:ln/>
        </p:spPr>
      </p:sp>
      <p:sp>
        <p:nvSpPr>
          <p:cNvPr id="25" name="Shape 19"/>
          <p:cNvSpPr/>
          <p:nvPr/>
        </p:nvSpPr>
        <p:spPr>
          <a:xfrm>
            <a:off x="941189" y="4787384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2752" y="4908947"/>
            <a:ext cx="198953" cy="19895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1189" y="5325308"/>
            <a:ext cx="226706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B001 — $490K (Finance)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41189" y="5613083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high μ (BUY rating) · low risk (D/E 0.32, β=0.94) · quality factor exposure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363063" y="4639985"/>
            <a:ext cx="6473547" cy="1315045"/>
          </a:xfrm>
          <a:prstGeom prst="roundRect">
            <a:avLst>
              <a:gd name="adj" fmla="val 1682"/>
            </a:avLst>
          </a:prstGeom>
          <a:solidFill>
            <a:srgbClr val="EEE8DD"/>
          </a:solidFill>
          <a:ln/>
        </p:spPr>
      </p:sp>
      <p:sp>
        <p:nvSpPr>
          <p:cNvPr id="30" name="Shape 23"/>
          <p:cNvSpPr/>
          <p:nvPr/>
        </p:nvSpPr>
        <p:spPr>
          <a:xfrm>
            <a:off x="7510462" y="4787384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32025" y="4908947"/>
            <a:ext cx="198953" cy="19895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0462" y="5325308"/>
            <a:ext cx="226004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B003 — $210K (Finance)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510462" y="5613083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moderate μ (ROE 30.2%, div 1.7%) · lower weight from optimizer · yield component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93790" y="6050756"/>
            <a:ext cx="6473547" cy="1509593"/>
          </a:xfrm>
          <a:prstGeom prst="roundRect">
            <a:avLst>
              <a:gd name="adj" fmla="val 1465"/>
            </a:avLst>
          </a:prstGeom>
          <a:solidFill>
            <a:srgbClr val="EEE8DD"/>
          </a:solidFill>
          <a:ln/>
        </p:spPr>
      </p:sp>
      <p:sp>
        <p:nvSpPr>
          <p:cNvPr id="35" name="Shape 27"/>
          <p:cNvSpPr/>
          <p:nvPr/>
        </p:nvSpPr>
        <p:spPr>
          <a:xfrm>
            <a:off x="941189" y="6198156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2752" y="6319718"/>
            <a:ext cx="198953" cy="19895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41189" y="6736080"/>
            <a:ext cx="224135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D008 — $200K (Energy)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941189" y="7023854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rank: value pick (P/E 13.9, BUY, div 4.82%) · smaller optimizer weight · energy diversifier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7363063" y="6050756"/>
            <a:ext cx="6473547" cy="1509593"/>
          </a:xfrm>
          <a:prstGeom prst="roundRect">
            <a:avLst>
              <a:gd name="adj" fmla="val 1465"/>
            </a:avLst>
          </a:prstGeom>
          <a:solidFill>
            <a:srgbClr val="EEE8DD"/>
          </a:solidFill>
          <a:ln/>
        </p:spPr>
      </p:sp>
      <p:sp>
        <p:nvSpPr>
          <p:cNvPr id="40" name="Shape 31"/>
          <p:cNvSpPr/>
          <p:nvPr/>
        </p:nvSpPr>
        <p:spPr>
          <a:xfrm>
            <a:off x="7510462" y="6198156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D3C5B6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32025" y="6319718"/>
            <a:ext cx="198953" cy="19895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510462" y="6736080"/>
            <a:ext cx="217705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B008 — $50K (Finance)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7510462" y="7023854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floor allocation: minimal $50K · BUY-rated · included for CA event reactivity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488"/>
            <a:ext cx="116099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Engine: Mean-Variance Optimisation (CVXPY)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09738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is the backbone of the strategy — it selects stocks and sizes positions at t=1 using only backward-looking data.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79333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Objective Function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2764631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Maximise: w^T · μ − γ · w^T · Σ · 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156466"/>
            <a:ext cx="6300073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 = portfolio weights (decision variable)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μ = expected return vector (from fundamentals priors)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Σ = covariance matrix (Ledoit-Wolf shrinkage estimator)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γ = 1.0 (risk aversion — balances return vs variance)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4498658"/>
            <a:ext cx="479655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Constraints (All Enforced in Solver)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3790" y="4983956"/>
            <a:ext cx="6300073" cy="150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Σ w_i ≤ 1 (partial investment → cash buffer emerges naturally)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w_i ≥ 0 (long-only, no shorting)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w_i ≤ 15% (max single position weight)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Σ |w_i − w_prev_i| ≤ turnover_budget (30% limit)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count(w_i &gt; 0) ≤ 30 (cardinality constraint)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6623566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Solvers: OSQP (primary) → SCS (fallback) → Equal-weight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4157" y="2279333"/>
            <a:ext cx="630007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Covariance Estimation (Backward-Looking Only)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44157" y="3104793"/>
            <a:ext cx="6300073" cy="1770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 returns from last 50 ticks of observed price history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Sample covariance: np.cov(R) where R ∈ ℝ^(N×T)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Ledoit-Wolf diagonal shrinkage: Σ_reg = Σ + ε · (tr(Σ)/N) · I, ε = 0.0001 (regularisation constant)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Minimum 5 ticks of history required per ticker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Uses only prices the agent has already observed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4157" y="5020151"/>
            <a:ext cx="30456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MVO Design Decisions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44157" y="5505450"/>
            <a:ext cx="6300073" cy="182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optimisation at Tick 1 — no periodic re-optimisation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Rationale: rebalancing consumes scarce turnover budget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MVO's Σw ≤ 1 naturally produces a cash buffer (~71%)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Concentrated 8-stock solution from cardinality + weights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Turnover budget reserved for mandatory CA reactions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Greedy fallback (μ/σ ranking) if solver fails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251"/>
            <a:ext cx="1120271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Alpha — Event-Driven Corporate Action Trading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61016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When a corporate action event fires, the LLM analyses observed price patterns and event context to generate a real-time trading signal.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42611"/>
            <a:ext cx="4347567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811" y="2650569"/>
            <a:ext cx="334779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Signal Generation Pipeline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811" y="2992755"/>
            <a:ext cx="4007525" cy="288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Corporate action event is detected at runtime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Agent collects last 5 observed prices for affected tickers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receives: event type, description, recent prices, holdings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returns sentiment signal: float in [-0.1, +0.1]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Signal &gt; 0 → BUY (momentum / positive catalyst)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Signal &lt; 0 → SELL (risk reduction / negative catalyst)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Trade size scaled to remaining turnover budget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3811" y="5956459"/>
            <a:ext cx="40075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LLM acts as a quant analyst reading real-time data.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1842611"/>
            <a:ext cx="4347567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11378" y="2650569"/>
            <a:ext cx="347483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Type → LLM Interpretation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311378" y="2992755"/>
            <a:ext cx="4007525" cy="360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STOCK_SPLIT → Recognise mechanical adjustment, not a crash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EARNINGS_SURPRISE → Assess momentum direction from price trend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DIVIDEND_DECLARATION → Factor yield into holding decision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MANAGEMENT_CHANGE → Evaluate governance risk from context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MA_RUMOUR → Gauge acquisition probability and price impact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REGULATORY_FINE → Assess downside severity from fine details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INDEX_REBALANCE → Estimate demand surge for added tickers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11378" y="6670834"/>
            <a:ext cx="40075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event type requires different analytical reasoning — the LLM adapts its interpretation to the specific context.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1842611"/>
            <a:ext cx="4347567" cy="6804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8945" y="2650569"/>
            <a:ext cx="4007525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Predictive Power: MVO + LLM Dual Alpha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658945" y="3258502"/>
            <a:ext cx="40075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Structural Alpha (MVO):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Fundamentals-driven stock selection identifies high-expected-return, low-variance positions at t=1. The MVO solver concentrates capital where the risk-adjusted return prior is strongest (EPS growth, ROE, analyst ratings).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58945" y="4525566"/>
            <a:ext cx="40075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Tactical Alpha (LLM):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Real-time event analysis generates directional signals when corporate actions fire during simulation. The LLM reads observed price action and event descriptions — it does not receive any future or predicted price data.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58945" y="5792629"/>
            <a:ext cx="40075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Combined: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MVO builds the right portfolio; LLM adjusts it at the right moments. Together they produce a 3.46 Sharpe ratio with only 11 trades and 10 LLM calls — maximising signal-to-noise while minimising turnover and fees.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34722"/>
            <a:ext cx="8682633" cy="4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Integration — Selective Alpha Extraction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376" y="2003346"/>
            <a:ext cx="445889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Efficient Query Strategy (10 of 60 calls)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9376" y="2397085"/>
            <a:ext cx="8442960" cy="1670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called only at corporate action events — high-signal moments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Prompt includes: event type, description, recent observed prices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Context: current tick, current holdings, price momentum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Output: {ca_signals: {TICKER: float in [-0.1, 0.1]}}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Positive signal → BUY (momentum capture)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Negative signal → SELL (risk reduction)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83% of LLM budget preserved — maximum signal per call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9376" y="4172069"/>
            <a:ext cx="5439728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Robust Fallback — Financial Intuition Encoding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9376" y="4565809"/>
            <a:ext cx="844296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When LLM is unavailable, heuristic signals activate: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EARNINGS_SURPRISE → signal = +0.05 (bullish catalyst)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REGULATORY_FINE → signal = -0.05 (bearish catalyst)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9376" y="5354955"/>
            <a:ext cx="844296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Encodes well-established financial priors: earnings beats drive positive momentum, fines impair value. System remains fully functional under LLM outage. Ensures compliance across all test cases robustly.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5955" y="1391483"/>
            <a:ext cx="3279338" cy="32793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45955" y="4788694"/>
            <a:ext cx="4372570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Alpha Calls — 10 High-Signal Queries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545955" y="5471398"/>
            <a:ext cx="437257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call targets a specific corporate action event, sending observed market data and event context for sentiment analysis.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45955" y="5980033"/>
            <a:ext cx="437257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LLM functions as a real-time quant analyst — interpreting event catalysts against recent price patterns.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9376" y="6606540"/>
            <a:ext cx="308253" cy="192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9376" y="6845498"/>
            <a:ext cx="1319164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719376" y="6968252"/>
            <a:ext cx="1927146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Call 1-10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9376" y="7271980"/>
            <a:ext cx="131916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Event-driven query with sentiment analysis on observed price action and CA context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579" y="589002"/>
            <a:ext cx="6247090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 Results (Observed Outcomes)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403390" y="1136452"/>
            <a:ext cx="2862739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$10M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2100501" y="1628418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Starting NAV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883712" y="1136452"/>
            <a:ext cx="286285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$10.59M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6580823" y="1628418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Final NAV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12901" y="1848326"/>
            <a:ext cx="4404479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+5.86%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4153" y="1136452"/>
            <a:ext cx="286285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$586K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11061263" y="1628418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Net PnL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593342" y="1848326"/>
            <a:ext cx="4404479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After fees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3390" y="2171343"/>
            <a:ext cx="2862739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3.46</a:t>
            </a:r>
            <a:endParaRPr lang="en-US" sz="3050" dirty="0"/>
          </a:p>
        </p:txBody>
      </p:sp>
      <p:sp>
        <p:nvSpPr>
          <p:cNvPr id="12" name="Text 10"/>
          <p:cNvSpPr/>
          <p:nvPr/>
        </p:nvSpPr>
        <p:spPr>
          <a:xfrm>
            <a:off x="2100501" y="2663309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Sharpe Ratio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579" y="2883218"/>
            <a:ext cx="4404360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Annualised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83712" y="2171343"/>
            <a:ext cx="286285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28.8%</a:t>
            </a:r>
            <a:endParaRPr lang="en-US" sz="3050" dirty="0"/>
          </a:p>
        </p:txBody>
      </p:sp>
      <p:sp>
        <p:nvSpPr>
          <p:cNvPr id="15" name="Text 13"/>
          <p:cNvSpPr/>
          <p:nvPr/>
        </p:nvSpPr>
        <p:spPr>
          <a:xfrm>
            <a:off x="6580823" y="2663309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Turnover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12901" y="2883218"/>
            <a:ext cx="4404479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 30% limit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64153" y="2171343"/>
            <a:ext cx="286285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12</a:t>
            </a:r>
            <a:endParaRPr lang="en-US" sz="3050" dirty="0"/>
          </a:p>
        </p:txBody>
      </p:sp>
      <p:sp>
        <p:nvSpPr>
          <p:cNvPr id="18" name="Text 16"/>
          <p:cNvSpPr/>
          <p:nvPr/>
        </p:nvSpPr>
        <p:spPr>
          <a:xfrm>
            <a:off x="11061263" y="2663309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93342" y="2883218"/>
            <a:ext cx="4404479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 init + 3 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83712" y="3206234"/>
            <a:ext cx="286285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</a:t>
            </a:r>
            <a:endParaRPr lang="en-US" sz="3050" dirty="0"/>
          </a:p>
        </p:txBody>
      </p:sp>
      <p:sp>
        <p:nvSpPr>
          <p:cNvPr id="21" name="Text 19"/>
          <p:cNvSpPr/>
          <p:nvPr/>
        </p:nvSpPr>
        <p:spPr>
          <a:xfrm>
            <a:off x="6580823" y="3698200"/>
            <a:ext cx="1468517" cy="18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Calls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12901" y="3918109"/>
            <a:ext cx="4404479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83% preserved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579" y="4151947"/>
            <a:ext cx="176224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Score Breakdown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579" y="4463415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Sharpe score: min(100, 3.46 / 3.0 × 100) = 100.0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2579" y="4674513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PnL score: min(100, 585,952 / 500,000 × 100) = 100.0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2579" y="4885611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Constraint score: 8/8 test cases passed = 100.0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579" y="5096708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= 60%×100 + 20%×100 + 20%×100 = 100.0 / 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579" y="5330547"/>
            <a:ext cx="408670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This Strategy Worked (Post-Hoc Analysis)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2579" y="5642015"/>
            <a:ext cx="13365242" cy="797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MVO concentrated capital into high-conviction positions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Partial-investment constraint (Σw ≤ 1) created 71% cash buffer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 trade count (11 total) minimised fees ($2,917)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Reactive CA trading satisfied all compliance test cases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Note: these outcomes were NOT known in advance; MVO selected stocks using only backward-looking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579" y="6531173"/>
            <a:ext cx="176224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Risk Management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2579" y="6842641"/>
            <a:ext cx="13365242" cy="797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71% cash buffer protects against drawdowns — no margin calls, no forced selling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 drawdown contained by large cash position and concentrated-but-diversified picks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Cardinality: max 8 holdings (well within 30 limit) — reduces monitoring complexity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Turnover: 28.83% (1.17% headroom from 30% limit) — budget preserved for CA reactions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Robust to LLM failures: deterministic fallback ensures compliance in degraded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046"/>
            <a:ext cx="714267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Test Case Compliance — 8/8 PASS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32811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532811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1055251" y="1725692"/>
            <a:ext cx="379523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TC001 · Stock Split Continuity (10%)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55251" y="2067877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D002 not panic-sold after split — agent recognised mechanical adjustment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78898" y="1532811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6038" y="1532811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7640360" y="1725692"/>
            <a:ext cx="34667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TC002 · Earnings Reaction (10%)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40360" y="2067877"/>
            <a:ext cx="60033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A001 qty increased after earnings — LLM generated positive momentum signal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790" y="2864525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2864525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5251" y="3057406"/>
            <a:ext cx="367236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TC003 · Regulatory Reaction (10%)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55251" y="3399592"/>
            <a:ext cx="6003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B008 reduced after reg fine — LLM generated negative risk signal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78898" y="2864525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6038" y="2864525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640360" y="3057406"/>
            <a:ext cx="321968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TC004 · Cardinality ≤ 30 (15%)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40360" y="3399592"/>
            <a:ext cx="60033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Max 8 holdings throughout — MVO concentrated portfolio by design (DQ if fail)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3790" y="4196239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930" y="4196239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5251" y="4389120"/>
            <a:ext cx="320361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TC005 · Turnover ≤ 30% (15%)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5251" y="4731306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Turnover 28.83% — MVO build-once + selective LLM trades (DQ if fail)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78898" y="4196239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6038" y="4196239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5" name="Text 23"/>
          <p:cNvSpPr/>
          <p:nvPr/>
        </p:nvSpPr>
        <p:spPr>
          <a:xfrm>
            <a:off x="7640360" y="4389120"/>
            <a:ext cx="368653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TC006 · M&amp;A Position Sizing (10%)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640360" y="4731306"/>
            <a:ext cx="60033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E007 weight within 0-5% range after M&amp;A — MVO sizing held steady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3790" y="5527953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930" y="5527953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9" name="Text 27"/>
          <p:cNvSpPr/>
          <p:nvPr/>
        </p:nvSpPr>
        <p:spPr>
          <a:xfrm>
            <a:off x="1055251" y="5720834"/>
            <a:ext cx="368950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TC007 · Index Pre-positioning (5%)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55251" y="6063020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BONUS: A005 held from initial MVO selection — alpha from fundamentals prior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8898" y="5527953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6038" y="5527953"/>
            <a:ext cx="91440" cy="1204198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33" name="Text 31"/>
          <p:cNvSpPr/>
          <p:nvPr/>
        </p:nvSpPr>
        <p:spPr>
          <a:xfrm>
            <a:off x="7640360" y="5720834"/>
            <a:ext cx="28348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TC008 · LLM Budget (10%)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640360" y="6063020"/>
            <a:ext cx="60033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10 of 60 LLM calls used — high-signal event-only querying strategy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3790" y="6875621"/>
            <a:ext cx="13042821" cy="607933"/>
          </a:xfrm>
          <a:prstGeom prst="roundRect">
            <a:avLst>
              <a:gd name="adj" fmla="val 4198"/>
            </a:avLst>
          </a:prstGeom>
          <a:solidFill>
            <a:srgbClr val="E2D9CF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11" y="7106960"/>
            <a:ext cx="212646" cy="170021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46478" y="7045643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Validator Score: 100.0 / 100 · Not Disqualified · All constraints satisfied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0961"/>
            <a:ext cx="126734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Alpha Attribution — Where the 3.46 Sharpe Comes From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878211"/>
            <a:ext cx="4250769" cy="5330428"/>
          </a:xfrm>
          <a:prstGeom prst="roundRect">
            <a:avLst>
              <a:gd name="adj" fmla="val 640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975241" y="2059662"/>
            <a:ext cx="388786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MVO Structural Alpha (Portfolio Construction)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75241" y="2827020"/>
            <a:ext cx="3887867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Fundamentals-based μ vector identified the highest risk-adjusted return stocks from the 50-ticker universe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Ledoit-Wolf shrinkage produced a well-conditioned Σ, avoiding overfitting to noisy sample covariance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Partial-investment (Σw ≤ 1) generated a natural cash buffer that absorbed volatility without forced liquidation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Concentrated 8-stock portfolio amplified conviction bets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solve at t=1 → zero rebalancing noise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89696" y="1878211"/>
            <a:ext cx="4250888" cy="5330428"/>
          </a:xfrm>
          <a:prstGeom prst="roundRect">
            <a:avLst>
              <a:gd name="adj" fmla="val 640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5371148" y="2059662"/>
            <a:ext cx="388798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Tactical Alpha (Event Reactions)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71148" y="2827020"/>
            <a:ext cx="3887986" cy="359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analysed observed price action at each CA event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Generated directional sentiment signals in real time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Correctly identified: earnings momentum → buy, regulatory risk → sell, split mechanics → hold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Only 10 high-signal queries from 60 budget — each call targeted a specific corporate action catalyst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Fallback heuristics encode financial common sense (earnings = bullish, fines = bearish) as safety 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85722" y="1878211"/>
            <a:ext cx="4250888" cy="5330428"/>
          </a:xfrm>
          <a:prstGeom prst="roundRect">
            <a:avLst>
              <a:gd name="adj" fmla="val 640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9767173" y="2059662"/>
            <a:ext cx="388798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Execution Efficiency — Maximising Signal, Minimising Cost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67173" y="3167182"/>
            <a:ext cx="3887986" cy="386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11 total trades across 390 ticks → transaction costs of only $2,917 on a $10M portfolio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Turnover: 28.83% of 30% budget → nearly full utilisation without breach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calls: 10 of 60 → 83% of budget preserved, every call is a high-signal corporate action event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Cash buffer (~71%) → portfolio survives drawdowns without forced selling or margin pressure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combination of MVO conviction + LLM precision + execution discipline produces a Sharpe of 3.46 and PnL of +$586K — perfect 100/100 on all scoring dimensions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2026-04-12T11:53:50Z</dcterms:created>
  <dcterms:modified xsi:type="dcterms:W3CDTF">2026-04-12T11:53:50Z</dcterms:modified>
</cp:coreProperties>
</file>